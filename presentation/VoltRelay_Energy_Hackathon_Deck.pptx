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2433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42433"/>
                </a:solidFill>
                <a:latin typeface="Calibri"/>
              </a:rPr>
              <a:t>May 2024 Failure Events by Type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Gen1</c:v>
                </c:pt>
              </c:strCache>
            </c:strRef>
          </c:tx>
          <c:spPr>
            <a:solidFill>
              <a:srgbClr val="FF6B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424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No charged battery</c:v>
                  </c:pt>
                  <c:pt idx="1">
                    <c:v>Queue abandonment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8755</c:v>
                </c:pt>
                <c:pt idx="1">
                  <c:v>4228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Gen2</c:v>
                </c:pt>
              </c:strCache>
            </c:strRef>
          </c:tx>
          <c:spPr>
            <a:solidFill>
              <a:srgbClr val="00E5A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424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No charged battery</c:v>
                  </c:pt>
                  <c:pt idx="1">
                    <c:v>Queue abandonment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2558</c:v>
                </c:pt>
                <c:pt idx="1">
                  <c:v>1292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424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424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solidFill>
                <a:srgbClr val="5B6B7C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4754880" cy="4754880"/>
          </a:xfrm>
          <a:prstGeom prst="ellipse">
            <a:avLst/>
          </a:prstGeom>
          <a:solidFill>
            <a:srgbClr val="071527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-640080"/>
            <a:ext cx="3108960" cy="3108960"/>
          </a:xfrm>
          <a:prstGeom prst="ellipse">
            <a:avLst/>
          </a:prstGeom>
          <a:ln w="25400">
            <a:solidFill>
              <a:srgbClr val="00E5A0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280160" y="4572000"/>
            <a:ext cx="2926080" cy="2926080"/>
          </a:xfrm>
          <a:prstGeom prst="ellipse">
            <a:avLst/>
          </a:prstGeom>
          <a:ln w="19050">
            <a:solidFill>
              <a:srgbClr val="FFC857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17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ANALYTICS SUBMISSION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78308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VoltRelay Energy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640080" y="2880360"/>
            <a:ext cx="8686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CB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Performance, Service Reliability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CB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Rider Experience Analysis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397764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3.87M swap events  •  6 cities  •  8 datasets  •  Jan 2024 – Jun 2025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507492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16324F"/>
          </a:solidFill>
          <a:ln w="12700">
            <a:solidFill>
              <a:srgbClr val="2440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518464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Bengaluru • Delhi NCR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55778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EC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 • Pune • Mumbai • Jaipur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0" y="507492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16324F"/>
          </a:solidFill>
          <a:ln w="12700">
            <a:solidFill>
              <a:srgbClr val="2440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518464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Jan 2024 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37560" y="55778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EC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2025 coverage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760720" y="507492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16324F"/>
          </a:solidFill>
          <a:ln w="12700">
            <a:solidFill>
              <a:srgbClr val="2440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97880" y="518464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₹17.58 → ₹36.32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897880" y="55778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EC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margin / swap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Scaling Network With a Pinpointed Reliability Gap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760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VoltRelay's battery-swap network for 2W/3W gig and logistics riders grew rapidly across six cities through 2024–25. Unit economics improved steadily, but service reliability was not uniform — sharp, recurring failure spikes hit specific cities and older charging infrastructure each April–June, and battery availability shows up as both the leading operational failure mode and the #1 customer complaint.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4572000"/>
            <a:ext cx="5760720" cy="1600200"/>
          </a:xfrm>
          <a:prstGeom prst="roundRect">
            <a:avLst>
              <a:gd name="adj" fmla="val 5143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473659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5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analysis covers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5102352"/>
            <a:ext cx="5303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B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growth • city &amp; station failure patterns • Gen1 vs Gen2 chargers • vehicle-class reliability • battery supplier health • pricing &amp; contribution margin • support-ticket signals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0" y="1600200"/>
            <a:ext cx="498348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8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876288" y="2048256"/>
            <a:ext cx="201168" cy="201168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0" name="Text 8"/>
          <p:cNvSpPr/>
          <p:nvPr/>
        </p:nvSpPr>
        <p:spPr>
          <a:xfrm>
            <a:off x="7242048" y="171907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12.27%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242048" y="207568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monthly failure rate (May 2024) vs ~4.4% baseline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675120" y="2862072"/>
            <a:ext cx="498348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8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876288" y="3310128"/>
            <a:ext cx="201168" cy="201168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14" name="Text 12"/>
          <p:cNvSpPr/>
          <p:nvPr/>
        </p:nvSpPr>
        <p:spPr>
          <a:xfrm>
            <a:off x="7242048" y="298094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16.5% vs 6.8%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242048" y="333756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Gen1 vs Gen2 charger failure rate during the spike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675120" y="4123944"/>
            <a:ext cx="498348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8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76288" y="4572000"/>
            <a:ext cx="201168" cy="201168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18" name="Text 16"/>
          <p:cNvSpPr/>
          <p:nvPr/>
        </p:nvSpPr>
        <p:spPr>
          <a:xfrm>
            <a:off x="7242048" y="424281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₹17.58 → ₹36.32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242048" y="459943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margin proxy per completed swap, Jan’24–Jun’25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675120" y="5385816"/>
            <a:ext cx="498348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8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76288" y="5833872"/>
            <a:ext cx="201168" cy="201168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22" name="Text 20"/>
          <p:cNvSpPr/>
          <p:nvPr/>
        </p:nvSpPr>
        <p:spPr>
          <a:xfrm>
            <a:off x="7242048" y="550468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44,000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242048" y="5861304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tickets analyzed — battery availability is #1 complaint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1185855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GROWTH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Network Scaled Fast — With Recurring Reliability Dips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7086600" cy="3115880"/>
          </a:xfrm>
          <a:prstGeom prst="roundRect">
            <a:avLst>
              <a:gd name="adj" fmla="val 2641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8">
                <a:alpha val="12000"/>
              </a:srgbClr>
            </a:outerShdw>
          </a:effectLst>
        </p:spPr>
      </p:sp>
      <p:pic>
        <p:nvPicPr>
          <p:cNvPr id="5" name="Image 0" descr="/mnt/user-data/uploads/01_network_growth_failure_r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737360"/>
            <a:ext cx="6720840" cy="27501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4807520"/>
            <a:ext cx="7086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swaps climbed from ~105K to ~310K+ a month, while failure rate spiked sharply each April–June (2024 and 2025) before settling back near ~4.2–4.5%.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909560" y="1737360"/>
            <a:ext cx="374904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8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046720" y="185623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₹6.32M → ₹16.34M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046720" y="235915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growth, Jan–Dec 2024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909560" y="2926080"/>
            <a:ext cx="374904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8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046720" y="304495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12.27%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8046720" y="354787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failure rate, May 2024 vs ~4.4% baseline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909560" y="4114800"/>
            <a:ext cx="3749040" cy="1828800"/>
          </a:xfrm>
          <a:prstGeom prst="roundRect">
            <a:avLst>
              <a:gd name="adj" fmla="val 4500"/>
            </a:avLst>
          </a:prstGeom>
          <a:solidFill>
            <a:srgbClr val="0B1F3A"/>
          </a:solidFill>
          <a:ln/>
        </p:spPr>
      </p:sp>
      <p:sp>
        <p:nvSpPr>
          <p:cNvPr id="14" name="Text 11"/>
          <p:cNvSpPr/>
          <p:nvPr/>
        </p:nvSpPr>
        <p:spPr>
          <a:xfrm>
            <a:off x="8110728" y="4261104"/>
            <a:ext cx="3346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recurring pattern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110728" y="4572000"/>
            <a:ext cx="33467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B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April–June disruption reappeared in 2025, though smaller in magnitude — a seasonal, city-specific pattern rather than a one-off event.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11185855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PATTERNS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Reliability Varies by City — With a Sharp May 2024 Spike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309360" cy="3888489"/>
          </a:xfrm>
          <a:prstGeom prst="roundRect">
            <a:avLst>
              <a:gd name="adj" fmla="val 2116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8">
                <a:alpha val="12000"/>
              </a:srgbClr>
            </a:outerShdw>
          </a:effectLst>
        </p:spPr>
      </p:sp>
      <p:pic>
        <p:nvPicPr>
          <p:cNvPr id="5" name="Image 0" descr="/mnt/user-data/uploads/03_city_failure_r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28800"/>
            <a:ext cx="5943600" cy="352272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635240" y="1554480"/>
            <a:ext cx="402336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8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81812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May 2024 spike, by city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818120" y="20116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Jaipur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0469880" y="20116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19.77%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818120" y="230428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469880" y="23042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17.72%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818120" y="259689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 NCR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0469880" y="259689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16.96%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818120" y="288950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0469880" y="288950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9.81%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818120" y="31821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Bengaluru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0469880" y="318211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6.44%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818120" y="3474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0469880" y="34747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4.58%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7635240" y="4069080"/>
            <a:ext cx="4023360" cy="1874520"/>
          </a:xfrm>
          <a:prstGeom prst="roundRect">
            <a:avLst>
              <a:gd name="adj" fmla="val 4390"/>
            </a:avLst>
          </a:prstGeom>
          <a:solidFill>
            <a:srgbClr val="0B1F3A"/>
          </a:solidFill>
          <a:ln/>
        </p:spPr>
      </p:sp>
      <p:sp>
        <p:nvSpPr>
          <p:cNvPr id="21" name="Text 18"/>
          <p:cNvSpPr/>
          <p:nvPr/>
        </p:nvSpPr>
        <p:spPr>
          <a:xfrm>
            <a:off x="7836408" y="422452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July 2024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7836408" y="4553712"/>
            <a:ext cx="362102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B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six cities returned to approximately 4.1–4.5% failure rate. A similar, smaller-magnitude pattern reappeared in April–June 2025 — these are recurring, city-specific windows worth pre-empting.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11185855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Gen1 Chargers Drove the May 2024 Failure Spike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5257800" cy="3382622"/>
          </a:xfrm>
          <a:prstGeom prst="roundRect">
            <a:avLst>
              <a:gd name="adj" fmla="val 2433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8">
                <a:alpha val="12000"/>
              </a:srgbClr>
            </a:outerShdw>
          </a:effectLst>
        </p:spPr>
      </p:sp>
      <p:pic>
        <p:nvPicPr>
          <p:cNvPr id="5" name="Image 0" descr="/mnt/user-data/uploads/04_gen1_vs_gen2_failure_r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83080"/>
            <a:ext cx="4892040" cy="301686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897880" y="1600200"/>
            <a:ext cx="5486400" cy="3400213"/>
          </a:xfrm>
          <a:prstGeom prst="roundRect">
            <a:avLst>
              <a:gd name="adj" fmla="val 2420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8">
                <a:alpha val="12000"/>
              </a:srgbClr>
            </a:outerShdw>
          </a:effectLst>
        </p:spPr>
      </p:sp>
      <p:pic>
        <p:nvPicPr>
          <p:cNvPr id="7" name="Image 1" descr="/mnt/user-data/uploads/05_gen1_vs_gen2_station_performan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783080"/>
            <a:ext cx="5120640" cy="303445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85800" y="5119982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failure rate, May 2024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6080760" y="5137573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telemetry, May 2024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685800" y="5486400"/>
            <a:ext cx="10515600" cy="960120"/>
          </a:xfrm>
          <a:prstGeom prst="roundRect">
            <a:avLst>
              <a:gd name="adj" fmla="val 8571"/>
            </a:avLst>
          </a:prstGeom>
          <a:solidFill>
            <a:srgbClr val="0B1F3A"/>
          </a:solidFill>
          <a:ln/>
        </p:spPr>
      </p:sp>
      <p:sp>
        <p:nvSpPr>
          <p:cNvPr id="11" name="Text 7"/>
          <p:cNvSpPr/>
          <p:nvPr/>
        </p:nvSpPr>
        <p:spPr>
          <a:xfrm>
            <a:off x="868680" y="5614416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B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Gen1 had more chargers online (15.5 vs 14.1) yet performed worse — charger count alone doesn’t explain reliability. The gap held within every city too: Delhi NCR 19.6% vs 10.1%, Hyderabad 19.4% vs 10.2%, Pune 14.2% vs 7.9%, Bengaluru 7.4% vs 5.7%, Mumbai 5.2% vs 4.5% (Gen1 vs Gen2).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11185855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MECHANISMS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No-Charged-Battery Events Drove Failures — 3W Hit Hardest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5394960" cy="3466566"/>
          </a:xfrm>
          <a:prstGeom prst="roundRect">
            <a:avLst>
              <a:gd name="adj" fmla="val 2374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8">
                <a:alpha val="12000"/>
              </a:srgbClr>
            </a:outerShdw>
          </a:effectLst>
        </p:spPr>
      </p:sp>
      <p:pic>
        <p:nvPicPr>
          <p:cNvPr id="5" name="Image 0" descr="/mnt/user-data/uploads/06_vehicle_class_failure_r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83080"/>
            <a:ext cx="5029200" cy="310080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203926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queue wait is ~243 seconds for both classes — the gap isn’t explained by wait time alone.</a:t>
            </a:r>
            <a:endParaRPr lang="en-US" sz="10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309360" y="1554480"/>
          <a:ext cx="534924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6309360" y="58064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System-error events were comparatively minor — the story is battery inventory, not software.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11185855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HEALTH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Kyron Batteries Show Materially Lower State of Health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858000" cy="3916318"/>
          </a:xfrm>
          <a:prstGeom prst="roundRect">
            <a:avLst>
              <a:gd name="adj" fmla="val 2101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8">
                <a:alpha val="12000"/>
              </a:srgbClr>
            </a:outerShdw>
          </a:effectLst>
        </p:spPr>
      </p:sp>
      <p:pic>
        <p:nvPicPr>
          <p:cNvPr id="5" name="Image 0" descr="/mnt/user-data/uploads/07_battery_supplier_so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28800"/>
            <a:ext cx="6492240" cy="355055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635240" y="1554480"/>
            <a:ext cx="4023360" cy="4572000"/>
          </a:xfrm>
          <a:prstGeom prst="roundRect">
            <a:avLst>
              <a:gd name="adj" fmla="val 2045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8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836408" y="1737360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Supplier snapshot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836408" y="2148840"/>
            <a:ext cx="3621024" cy="1051560"/>
          </a:xfrm>
          <a:prstGeom prst="roundRect">
            <a:avLst>
              <a:gd name="adj" fmla="val 6087"/>
            </a:avLst>
          </a:prstGeom>
          <a:solidFill>
            <a:srgbClr val="F7F9FB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01000" y="22402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Kyron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001000" y="25603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82.0% → 63.7% current SOH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001000" y="28346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657,648 swaps • 56.8 km avg. since last swap</a:t>
            </a:r>
            <a:endParaRPr lang="en-US" sz="970" dirty="0"/>
          </a:p>
        </p:txBody>
      </p:sp>
      <p:sp>
        <p:nvSpPr>
          <p:cNvPr id="12" name="Shape 9"/>
          <p:cNvSpPr/>
          <p:nvPr/>
        </p:nvSpPr>
        <p:spPr>
          <a:xfrm>
            <a:off x="7836408" y="3383280"/>
            <a:ext cx="3621024" cy="1051560"/>
          </a:xfrm>
          <a:prstGeom prst="roundRect">
            <a:avLst>
              <a:gd name="adj" fmla="val 6087"/>
            </a:avLst>
          </a:prstGeom>
          <a:solidFill>
            <a:srgbClr val="F7F9FB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001000" y="34747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Cellora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8001000" y="379476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89.8% → 80.6% current SOH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8001000" y="406908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2,188,677 swaps • 63.1 km avg. since last swap</a:t>
            </a:r>
            <a:endParaRPr lang="en-US" sz="970" dirty="0"/>
          </a:p>
        </p:txBody>
      </p:sp>
      <p:sp>
        <p:nvSpPr>
          <p:cNvPr id="16" name="Shape 13"/>
          <p:cNvSpPr/>
          <p:nvPr/>
        </p:nvSpPr>
        <p:spPr>
          <a:xfrm>
            <a:off x="7836408" y="4617720"/>
            <a:ext cx="3621024" cy="1051560"/>
          </a:xfrm>
          <a:prstGeom prst="roundRect">
            <a:avLst>
              <a:gd name="adj" fmla="val 6087"/>
            </a:avLst>
          </a:prstGeom>
          <a:solidFill>
            <a:srgbClr val="F7F9FB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001000" y="47091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Amptek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8001000" y="50292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89.8% → 80.6% current SOH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8001000" y="530352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799,484 swaps • 63.3 km avg. since last swap</a:t>
            </a:r>
            <a:endParaRPr lang="en-US" sz="970" dirty="0"/>
          </a:p>
        </p:txBody>
      </p:sp>
      <p:sp>
        <p:nvSpPr>
          <p:cNvPr id="20" name="Text 17"/>
          <p:cNvSpPr/>
          <p:nvPr/>
        </p:nvSpPr>
        <p:spPr>
          <a:xfrm>
            <a:off x="7836408" y="5806440"/>
            <a:ext cx="3621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 only — age, deployment pattern, and manufacturing lot may also contribute.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11185855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Contribution Margin per Swap More Than Doubled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7223760" cy="3181474"/>
          </a:xfrm>
          <a:prstGeom prst="roundRect">
            <a:avLst>
              <a:gd name="adj" fmla="val 2587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8">
                <a:alpha val="12000"/>
              </a:srgbClr>
            </a:outerShdw>
          </a:effectLst>
        </p:spPr>
      </p:sp>
      <p:pic>
        <p:nvPicPr>
          <p:cNvPr id="5" name="Image 0" descr="/mnt/user-data/uploads/02_revenue_contribution_mar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965960"/>
            <a:ext cx="6858000" cy="281571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63840" y="1965960"/>
            <a:ext cx="379476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8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001000" y="208483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₹1.12 Cr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8001000" y="2724912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June 2025 monthly contribution margin (~₹11.16M)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863840" y="3291840"/>
            <a:ext cx="379476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8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001000" y="341071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₹62–63 → ₹67–71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8001000" y="4050792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Standard/partner list price increase from July 2024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863840" y="4617720"/>
            <a:ext cx="3794760" cy="1417320"/>
          </a:xfrm>
          <a:prstGeom prst="roundRect">
            <a:avLst>
              <a:gd name="adj" fmla="val 5806"/>
            </a:avLst>
          </a:prstGeom>
          <a:solidFill>
            <a:srgbClr val="0B1F3A"/>
          </a:solidFill>
          <a:ln/>
        </p:spPr>
      </p:sp>
      <p:sp>
        <p:nvSpPr>
          <p:cNvPr id="13" name="Text 10"/>
          <p:cNvSpPr/>
          <p:nvPr/>
        </p:nvSpPr>
        <p:spPr>
          <a:xfrm>
            <a:off x="8065008" y="4754880"/>
            <a:ext cx="33924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B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Peak/off-peak tariffs appeared from October 2024. Margin growth tracks pricing changes, but volume and partner mix moved at the same time — so pricing alone isn’t the sole driver.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11185855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 EXPERIENCE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Battery Availability Is the #1 Rider Complaint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7040880" cy="4292829"/>
          </a:xfrm>
          <a:prstGeom prst="roundRect">
            <a:avLst>
              <a:gd name="adj" fmla="val 1917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8">
                <a:alpha val="12000"/>
              </a:srgbClr>
            </a:outerShdw>
          </a:effectLst>
        </p:spPr>
      </p:sp>
      <p:pic>
        <p:nvPicPr>
          <p:cNvPr id="5" name="Image 0" descr="/mnt/user-data/uploads/08_support_ticket_categori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783080"/>
            <a:ext cx="6675120" cy="392706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72400" y="1783080"/>
            <a:ext cx="388620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8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909560" y="1901952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~16 hrs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909560" y="2404872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resolution time — consistent across categories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772400" y="3017520"/>
            <a:ext cx="388620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8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909560" y="3136392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~3.5 / 5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7909560" y="3639312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CSAT across support categories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772400" y="4251960"/>
            <a:ext cx="3886200" cy="1737360"/>
          </a:xfrm>
          <a:prstGeom prst="roundRect">
            <a:avLst>
              <a:gd name="adj" fmla="val 4737"/>
            </a:avLst>
          </a:prstGeom>
          <a:solidFill>
            <a:srgbClr val="0B1F3A"/>
          </a:solidFill>
          <a:ln/>
        </p:spPr>
      </p:sp>
      <p:sp>
        <p:nvSpPr>
          <p:cNvPr id="13" name="Text 10"/>
          <p:cNvSpPr/>
          <p:nvPr/>
        </p:nvSpPr>
        <p:spPr>
          <a:xfrm>
            <a:off x="7973568" y="4434840"/>
            <a:ext cx="348386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CB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No-battery-available, low-range, and long-queue complaints together point to the same root cause as the operational data: charged-battery availability and station capacity.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1185855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206240" cy="4206240"/>
          </a:xfrm>
          <a:prstGeom prst="ellipse">
            <a:avLst/>
          </a:prstGeom>
          <a:solidFill>
            <a:srgbClr val="07152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 &amp; Recommendations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E5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found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865376"/>
            <a:ext cx="109728" cy="109728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737360"/>
            <a:ext cx="5120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scaled from ~105K to ~310K+ monthly completed swaps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432304"/>
            <a:ext cx="109728" cy="109728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304288"/>
            <a:ext cx="5120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rate spikes to ~12% each April–June, concentrated in Jaipur, Delhi NCR &amp; Hyderabad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999232"/>
            <a:ext cx="109728" cy="109728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871216"/>
            <a:ext cx="5120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Gen1 chargers failed at ~2.4× the Gen2 rate, with longer charging &amp; more outages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566160"/>
            <a:ext cx="109728" cy="109728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438144"/>
            <a:ext cx="5120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3W failure rate (10.3%) is nearly double 2W (5.4%), despite equal queue waits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133088"/>
            <a:ext cx="109728" cy="109728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005072"/>
            <a:ext cx="5120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Kyron batteries show lower SOH; margin per swap improved from ₹17.58 to ₹36.32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080760" y="1417320"/>
            <a:ext cx="0" cy="4892040"/>
          </a:xfrm>
          <a:prstGeom prst="line">
            <a:avLst/>
          </a:prstGeom>
          <a:noFill/>
          <a:ln w="19050">
            <a:solidFill>
              <a:srgbClr val="2440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14173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recommend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355080" y="1865376"/>
            <a:ext cx="109728" cy="109728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19" name="Text 17"/>
          <p:cNvSpPr/>
          <p:nvPr/>
        </p:nvSpPr>
        <p:spPr>
          <a:xfrm>
            <a:off x="6629400" y="1737360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Gen1 stations for inspection &amp; phased replacement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355080" y="2432304"/>
            <a:ext cx="109728" cy="109728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21" name="Text 19"/>
          <p:cNvSpPr/>
          <p:nvPr/>
        </p:nvSpPr>
        <p:spPr>
          <a:xfrm>
            <a:off x="6629400" y="2304288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charged-battery availability as a leading station KPI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355080" y="2999232"/>
            <a:ext cx="109728" cy="109728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23" name="Text 21"/>
          <p:cNvSpPr/>
          <p:nvPr/>
        </p:nvSpPr>
        <p:spPr>
          <a:xfrm>
            <a:off x="6629400" y="2871216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city-specific playbooks for the recurring Apr–Jun window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355080" y="3566160"/>
            <a:ext cx="109728" cy="109728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25" name="Text 23"/>
          <p:cNvSpPr/>
          <p:nvPr/>
        </p:nvSpPr>
        <p:spPr>
          <a:xfrm>
            <a:off x="6629400" y="3438144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3W capacity and inventory separately from 2W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355080" y="4133088"/>
            <a:ext cx="109728" cy="109728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27" name="Text 25"/>
          <p:cNvSpPr/>
          <p:nvPr/>
        </p:nvSpPr>
        <p:spPr>
          <a:xfrm>
            <a:off x="6629400" y="4005072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Kyron SOH by battery age, lot &amp; deployment; monitor support tickets as an early-warning signal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based on organizer-provided datasets • AI tools used for structuring &amp; visualization support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1185855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2026-09-26T17:08:03Z</dcterms:created>
  <dcterms:modified xsi:type="dcterms:W3CDTF">2026-09-26T17:08:03Z</dcterms:modified>
</cp:coreProperties>
</file>